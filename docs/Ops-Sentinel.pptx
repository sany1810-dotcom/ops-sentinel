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58A6FF"/>
                </a:solidFill>
              </a:rPr>
              <a:t>Ops-Sentinel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974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Autonomous on-call agent with persistent incident memory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171" y="3566160"/>
            <a:ext cx="10360609" cy="0"/>
          </a:xfrm>
          <a:prstGeom prst="line">
            <a:avLst/>
          </a:prstGeom>
          <a:ln w="1905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B949E"/>
                </a:solidFill>
              </a:rPr>
              <a:t>Qwen Cloud Hackathon  ·  Track 1: MemoryAgent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56D364"/>
                </a:solidFill>
              </a:rPr>
              <a:t>Live demo:  http://47.237.196.56/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58A6FF"/>
                </a:solidFill>
              </a:rPr>
              <a:t>The Problem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171" y="1234440"/>
            <a:ext cx="10360609" cy="0"/>
          </a:xfrm>
          <a:prstGeom prst="line">
            <a:avLst/>
          </a:prstGeom>
          <a:ln w="1905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508760"/>
            <a:ext cx="1051560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▸  On-call engineers face the same incidents over and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1051560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▸  Every recurrence is diagnosed from scratch — runbooks go stale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▸  Context is lost between shifts and team 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8999"/>
            <a:ext cx="1051560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▸  Response time degrades under alert fatigue and pressure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89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F0883E"/>
                </a:solidFill>
              </a:rPr>
              <a:t>The cost: slower MTTR, missed patterns, repeated mistakes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58A6FF"/>
                </a:solidFill>
              </a:rPr>
              <a:t>The Solution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171" y="1234440"/>
            <a:ext cx="10360609" cy="0"/>
          </a:xfrm>
          <a:prstGeom prst="line">
            <a:avLst/>
          </a:prstGeom>
          <a:ln w="1905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Ops-Sentinel never forgets an incident.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▸  Continuously monitors a target service (metrics, latency, errors)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▸  Detects anomalies and extracts a symptom list automatically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9125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▸  Searches past incidents semantically — finds similar cases by meaning, not keywords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58183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▸  Calls Qwen with retrieved context: 'last time this happened, we restarted'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25112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▸  Executes remediation (restart / alert / halt) and records the new incident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▸  Improves with every cycle — memory grows, responses sharpen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58A6FF"/>
                </a:solidFill>
              </a:rPr>
              <a:t>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171" y="1234440"/>
            <a:ext cx="10360609" cy="0"/>
          </a:xfrm>
          <a:prstGeom prst="line">
            <a:avLst/>
          </a:prstGeom>
          <a:ln w="1905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320040" y="1417320"/>
            <a:ext cx="2194560" cy="777240"/>
          </a:xfrm>
          <a:prstGeom prst="rect">
            <a:avLst/>
          </a:prstGeom>
          <a:solidFill>
            <a:srgbClr val="6E3513"/>
          </a:solidFill>
          <a:ln>
            <a:solidFill>
              <a:srgbClr val="6E35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25400"/>
          <a:lstStyle/>
          <a:p>
            <a:pPr algn="ctr"/>
            <a:r>
              <a:rPr sz="1500" b="1">
                <a:solidFill>
                  <a:srgbClr val="F0883E"/>
                </a:solidFill>
              </a:rPr>
              <a:t>Demo Service</a:t>
            </a:r>
          </a:p>
          <a:p>
            <a:pPr algn="ctr"/>
            <a:r>
              <a:rPr sz="1100">
                <a:solidFill>
                  <a:srgbClr val="F0883E"/>
                </a:solidFill>
              </a:rPr>
              <a:t>:8000  /inject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7520" y="1417320"/>
            <a:ext cx="2468880" cy="777240"/>
          </a:xfrm>
          <a:prstGeom prst="rect">
            <a:avLst/>
          </a:prstGeom>
          <a:solidFill>
            <a:srgbClr val="1F6B2E"/>
          </a:solidFill>
          <a:ln>
            <a:solidFill>
              <a:srgbClr val="1F6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25400"/>
          <a:lstStyle/>
          <a:p>
            <a:pPr algn="ctr"/>
            <a:r>
              <a:rPr sz="1500" b="1">
                <a:solidFill>
                  <a:srgbClr val="56D364"/>
                </a:solidFill>
              </a:rPr>
              <a:t>ops-agent</a:t>
            </a:r>
          </a:p>
          <a:p>
            <a:pPr algn="ctr"/>
            <a:r>
              <a:rPr sz="1100">
                <a:solidFill>
                  <a:srgbClr val="56D364"/>
                </a:solidFill>
              </a:rPr>
              <a:t>poll · detect · 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1417320"/>
            <a:ext cx="2286000" cy="77724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25400"/>
          <a:lstStyle/>
          <a:p>
            <a:pPr algn="ctr"/>
            <a:r>
              <a:rPr sz="1500" b="1">
                <a:solidFill>
                  <a:srgbClr val="0D1117"/>
                </a:solidFill>
              </a:rPr>
              <a:t>Qwen API</a:t>
            </a:r>
          </a:p>
          <a:p>
            <a:pPr algn="ctr"/>
            <a:r>
              <a:rPr sz="1100">
                <a:solidFill>
                  <a:srgbClr val="0D1117"/>
                </a:solidFill>
              </a:rPr>
              <a:t>qwen3.6-flash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0" y="1417320"/>
            <a:ext cx="2377440" cy="777240"/>
          </a:xfrm>
          <a:prstGeom prst="rect">
            <a:avLst/>
          </a:prstGeom>
          <a:solidFill>
            <a:srgbClr val="21262E"/>
          </a:solidFill>
          <a:ln>
            <a:solidFill>
              <a:srgbClr val="21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25400"/>
          <a:lstStyle/>
          <a:p>
            <a:pPr algn="ctr"/>
            <a:r>
              <a:rPr sz="1500" b="1">
                <a:solidFill>
                  <a:srgbClr val="8B949E"/>
                </a:solidFill>
              </a:rPr>
              <a:t>Status Page</a:t>
            </a:r>
          </a:p>
          <a:p>
            <a:pPr algn="ctr"/>
            <a:r>
              <a:rPr sz="1100">
                <a:solidFill>
                  <a:srgbClr val="8B949E"/>
                </a:solidFill>
              </a:rPr>
              <a:t>GET /  :80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3200400"/>
            <a:ext cx="2468880" cy="777240"/>
          </a:xfrm>
          <a:prstGeom prst="rect">
            <a:avLst/>
          </a:prstGeom>
          <a:solidFill>
            <a:srgbClr val="0D3B6E"/>
          </a:solidFill>
          <a:ln>
            <a:solidFill>
              <a:srgbClr val="0D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25400"/>
          <a:lstStyle/>
          <a:p>
            <a:pPr algn="ctr"/>
            <a:r>
              <a:rPr sz="1500" b="1">
                <a:solidFill>
                  <a:srgbClr val="58A6FF"/>
                </a:solidFill>
              </a:rPr>
              <a:t>MCP Server</a:t>
            </a:r>
          </a:p>
          <a:p>
            <a:pPr algn="ctr"/>
            <a:r>
              <a:rPr sz="1100">
                <a:solidFill>
                  <a:srgbClr val="58A6FF"/>
                </a:solidFill>
              </a:rPr>
              <a:t>FastMCP  :8002/mcp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200400"/>
            <a:ext cx="2286000" cy="777240"/>
          </a:xfrm>
          <a:prstGeom prst="rect">
            <a:avLst/>
          </a:prstGeom>
          <a:solidFill>
            <a:srgbClr val="0D3B6E"/>
          </a:solidFill>
          <a:ln>
            <a:solidFill>
              <a:srgbClr val="0D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254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 MCP Tools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search · record · recent · stats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0" y="3200400"/>
            <a:ext cx="2377440" cy="777240"/>
          </a:xfrm>
          <a:prstGeom prst="rect">
            <a:avLst/>
          </a:prstGeom>
          <a:solidFill>
            <a:srgbClr val="21262E"/>
          </a:solidFill>
          <a:ln>
            <a:solidFill>
              <a:srgbClr val="21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25400"/>
          <a:lstStyle/>
          <a:p>
            <a:pPr algn="ctr"/>
            <a:r>
              <a:rPr sz="1500" b="1">
                <a:solidFill>
                  <a:srgbClr val="8B949E"/>
                </a:solidFill>
              </a:rPr>
              <a:t>SQLite Memory</a:t>
            </a:r>
          </a:p>
          <a:p>
            <a:pPr algn="ctr"/>
            <a:r>
              <a:rPr sz="1100">
                <a:solidFill>
                  <a:srgbClr val="8B949E"/>
                </a:solidFill>
              </a:rPr>
              <a:t>incidents + embeddings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4846320"/>
            <a:ext cx="2286000" cy="731520"/>
          </a:xfrm>
          <a:prstGeom prst="rect">
            <a:avLst/>
          </a:prstGeom>
          <a:solidFill>
            <a:srgbClr val="5A3E00"/>
          </a:solidFill>
          <a:ln>
            <a:solidFill>
              <a:srgbClr val="5A3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25400"/>
          <a:lstStyle/>
          <a:p>
            <a:pPr algn="ctr"/>
            <a:r>
              <a:rPr sz="1500" b="1">
                <a:solidFill>
                  <a:srgbClr val="E3B341"/>
                </a:solidFill>
              </a:rPr>
              <a:t>EmbeddingClient</a:t>
            </a:r>
          </a:p>
          <a:p>
            <a:pPr algn="ctr"/>
            <a:r>
              <a:rPr sz="1100">
                <a:solidFill>
                  <a:srgbClr val="E3B341"/>
                </a:solidFill>
              </a:rPr>
              <a:t>text-embedding-v3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14600" y="1801368"/>
            <a:ext cx="502920" cy="0"/>
          </a:xfrm>
          <a:prstGeom prst="line">
            <a:avLst/>
          </a:prstGeom>
          <a:ln w="22860">
            <a:solidFill>
              <a:srgbClr val="F088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51960" y="2194560"/>
            <a:ext cx="0" cy="1005840"/>
          </a:xfrm>
          <a:prstGeom prst="line">
            <a:avLst/>
          </a:prstGeom>
          <a:ln w="2286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486400" y="1801368"/>
            <a:ext cx="548640" cy="0"/>
          </a:xfrm>
          <a:prstGeom prst="line">
            <a:avLst/>
          </a:prstGeom>
          <a:ln w="2286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486400" y="1801368"/>
            <a:ext cx="548640" cy="0"/>
          </a:xfrm>
          <a:prstGeom prst="line">
            <a:avLst/>
          </a:prstGeom>
          <a:ln w="2286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321040" y="3584448"/>
            <a:ext cx="1005840" cy="0"/>
          </a:xfrm>
          <a:prstGeom prst="line">
            <a:avLst/>
          </a:prstGeom>
          <a:ln w="2286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977639"/>
            <a:ext cx="0" cy="868681"/>
          </a:xfrm>
          <a:prstGeom prst="line">
            <a:avLst/>
          </a:prstGeom>
          <a:ln w="22860">
            <a:solidFill>
              <a:srgbClr val="E3B3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326880" y="1801368"/>
            <a:ext cx="0" cy="0"/>
          </a:xfrm>
          <a:prstGeom prst="line">
            <a:avLst/>
          </a:prstGeom>
          <a:ln w="2286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486400" y="3584448"/>
            <a:ext cx="548640" cy="0"/>
          </a:xfrm>
          <a:prstGeom prst="line">
            <a:avLst/>
          </a:prstGeom>
          <a:ln w="2286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532120" y="14813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8A6FF"/>
                </a:solidFill>
              </a:rPr>
              <a:t>tool-calls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59893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3B341"/>
                </a:solidFill>
              </a:rPr>
              <a:t>safe-mode: MCP down → direct SQLite  |  Qwen down → rule-based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58A6FF"/>
                </a:solidFill>
              </a:rPr>
              <a:t>MCP Integration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171" y="1234440"/>
            <a:ext cx="10360609" cy="0"/>
          </a:xfrm>
          <a:prstGeom prst="line">
            <a:avLst/>
          </a:prstGeom>
          <a:ln w="1905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8B949E"/>
                </a:solidFill>
              </a:rPr>
              <a:t>Transport:  FastMCP  ·  Streamable HTTP  ·  /mcp endpoint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3474720" cy="3840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/>
          <a:lstStyle/>
          <a:p>
            <a:pPr algn="ctr"/>
            <a:r>
              <a:rPr sz="1400" b="1">
                <a:solidFill>
                  <a:srgbClr val="0D1117"/>
                </a:solidFill>
              </a:rPr>
              <a:t>search_similar_incidents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029968"/>
            <a:ext cx="7498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Semantic vector search over past incidents; returns similarity_score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71800"/>
            <a:ext cx="3474720" cy="384048"/>
          </a:xfrm>
          <a:prstGeom prst="rect">
            <a:avLst/>
          </a:prstGeom>
          <a:solidFill>
            <a:srgbClr val="56D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/>
          <a:lstStyle/>
          <a:p>
            <a:pPr algn="ctr"/>
            <a:r>
              <a:rPr sz="1400" b="1">
                <a:solidFill>
                  <a:srgbClr val="0D1117"/>
                </a:solidFill>
              </a:rPr>
              <a:t>record_incident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990088"/>
            <a:ext cx="7498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Persists new incident + computes &amp; stores embedding immediately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31920"/>
            <a:ext cx="3474720" cy="384048"/>
          </a:xfrm>
          <a:prstGeom prst="rect">
            <a:avLst/>
          </a:prstGeom>
          <a:solidFill>
            <a:srgbClr val="212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get_recent_incidents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950208"/>
            <a:ext cx="7498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Returns N most recent incidents for Qwen context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892040"/>
            <a:ext cx="3474720" cy="384048"/>
          </a:xfrm>
          <a:prstGeom prst="rect">
            <a:avLst/>
          </a:prstGeom>
          <a:solidFill>
            <a:srgbClr val="212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800" bIns="508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get_stats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4910328"/>
            <a:ext cx="7498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Embedding coverage, semantic_search flag, top symptoms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1">
                <a:solidFill>
                  <a:srgbClr val="E3B341"/>
                </a:solidFill>
              </a:rPr>
              <a:t>Qwen calls tools autonomously in a loop — no hardcoded decision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58A6FF"/>
                </a:solidFill>
              </a:rPr>
              <a:t>Semantic Incident Memory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171" y="1234440"/>
            <a:ext cx="10360609" cy="0"/>
          </a:xfrm>
          <a:prstGeom prst="line">
            <a:avLst/>
          </a:prstGeom>
          <a:ln w="1905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63040"/>
            <a:ext cx="621792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▸  Every incident embedded with text-embedding-v3  (1024-dim)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39112"/>
            <a:ext cx="621792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▸  Stored as float32 BLOB in SQLite incident_embeddings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5184"/>
            <a:ext cx="621792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▸  Query: build_embed_text(symptoms + metrics) → cosine similarity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91256"/>
            <a:ext cx="621792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▸  Returns top-N incidents with similarity_score  (0.0 – 1.0)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67328"/>
            <a:ext cx="621792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</a:rPr>
              <a:t>▸  Finds conceptually similar faults — no keyword overlap needed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1417320"/>
            <a:ext cx="4572000" cy="329184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1508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Status Page — MCP Tool Calls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87451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949E"/>
                </a:solidFill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874519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949E"/>
                </a:solidFill>
              </a:rPr>
              <a:t>Result / Similarity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171" y="2240280"/>
            <a:ext cx="10360609" cy="0"/>
          </a:xfrm>
          <a:prstGeom prst="line">
            <a:avLst/>
          </a:prstGeom>
          <a:ln w="1905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223760" y="23317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6D364"/>
                </a:solidFill>
              </a:rPr>
              <a:t>search_similar_incidents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23317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[semantic] id=12 sim=0.91,
id=9 sim=0.84, id=7 sim=0.79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154679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record_incident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154679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{"id": 13, "embedded": true}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77639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949E"/>
                </a:solidFill>
              </a:rPr>
              <a:t>get_stats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3977639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{"semantic_search": true,
"coverage": "13/13"}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E3B341"/>
                </a:solidFill>
              </a:rPr>
              <a:t>Similarity score visible to judges — proof of semantic retrieval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58A6FF"/>
                </a:solidFill>
              </a:rPr>
              <a:t>Resilience &amp; Safe Mode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171" y="1234440"/>
            <a:ext cx="10360609" cy="0"/>
          </a:xfrm>
          <a:prstGeom prst="line">
            <a:avLst/>
          </a:prstGeom>
          <a:ln w="1905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0883E"/>
                </a:solidFill>
              </a:rPr>
              <a:t>MCP Server unavailable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→  Agent detects failed MCP connection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42032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→  Falls back to direct SQLite text-overlap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72384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→  Reconnect attempted in background every 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02736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→  Zero downtime — agent keeps diagnosing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0883E"/>
                </a:solidFill>
              </a:rPr>
              <a:t>Qwen API unavailable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→  3× retry with backoff on API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542032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→  Falls back to rule-based diagnosis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072384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→  Action: alert (conservative safe default)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602736"/>
            <a:ext cx="5303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→  Incident still recorded in memory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171" y="4617720"/>
            <a:ext cx="10360609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0883E"/>
                </a:solidFill>
              </a:rPr>
              <a:t>Embedding API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5780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→  search_similar_incidents returns [text_fallback] mode — symptom keyword overlap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332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→  record_incident saves the incident without a vector (embeddable later via migrate script)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58A6FF"/>
                </a:solidFill>
              </a:rPr>
              <a:t>Tech Stack &amp; Deployment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171" y="1234440"/>
            <a:ext cx="10360609" cy="0"/>
          </a:xfrm>
          <a:prstGeom prst="line">
            <a:avLst/>
          </a:prstGeom>
          <a:ln w="1905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5087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</a:rPr>
              <a:t>Agent Runtime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150876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Python 3.11 · FastAPI · uvicorn · httpx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6712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</a:rPr>
              <a:t>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16712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Qwen qwen3.6-flash via DashScope (OpenAI-compatible API)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25496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</a:rPr>
              <a:t>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2825496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Qwen text-embedding-v3 · 1024-dim · same API 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83864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</a:rPr>
              <a:t>MCP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3483864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mcp[cli] FastMCP · Streamable HTTP transport · 4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42231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</a:rPr>
              <a:t>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4142231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SQLite · incidents table + incident_embeddings BLOB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0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</a:rPr>
              <a:t>Infrastructure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480060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Docker Compose · 3 containers · Alibaba Cloud ECS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171" y="5577840"/>
            <a:ext cx="10360609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5715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6D364"/>
                </a:solidFill>
              </a:rPr>
              <a:t>Live on Alibaba Cloud ECS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57150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6D364"/>
                </a:solidFill>
              </a:rPr>
              <a:t>http://47.237.196.56/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58A6FF"/>
                </a:solidFill>
              </a:rPr>
              <a:t>Live Demo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171" y="1234440"/>
            <a:ext cx="10360609" cy="0"/>
          </a:xfrm>
          <a:prstGeom prst="line">
            <a:avLst/>
          </a:prstGeom>
          <a:ln w="1905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6D364"/>
                </a:solidFill>
              </a:rPr>
              <a:t>http://47.237.196.56/ — open in browser, no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1  Reset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196596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Click Reset Service — demo service starts clean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8775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883E"/>
                </a:solidFill>
              </a:rPr>
              <a:t>2  Inject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8775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Click Inject: Overload (or memory_leak / dependency_down)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954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3  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209544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Agent detects high latency + CPU symptoms within ~10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31335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</a:rPr>
              <a:t>4  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831335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Qwen calls search_similar_incidents → [semantic] sim=0.91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5312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5 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453128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Qwen reasons over retrieved past case, picks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6D364"/>
                </a:solidFill>
              </a:rPr>
              <a:t>6 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07492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Agent restarts / alerts, records new incident with embedding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9671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3B341"/>
                </a:solidFill>
              </a:rPr>
              <a:t>7  Repeat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5696712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Inject same fault — agent finds prior case, responds faster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58A6FF"/>
                </a:solidFill>
              </a:rPr>
              <a:t>What Ops-Sentinel Demonstrates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171" y="1280160"/>
            <a:ext cx="10360609" cy="0"/>
          </a:xfrm>
          <a:prstGeom prst="line">
            <a:avLst/>
          </a:prstGeom>
          <a:ln w="1905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600200"/>
            <a:ext cx="2651760" cy="347472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8A6FF"/>
                </a:solidFill>
              </a:rPr>
              <a:t>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Persistent SQLite store — every incident remembered and embedded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600200"/>
            <a:ext cx="2651760" cy="3474720"/>
          </a:xfrm>
          <a:prstGeom prst="rect">
            <a:avLst/>
          </a:prstGeom>
          <a:solidFill>
            <a:srgbClr val="161B22"/>
          </a:solidFill>
          <a:ln w="25400">
            <a:solidFill>
              <a:srgbClr val="56D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6916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6D364"/>
                </a:solidFill>
              </a:rPr>
              <a:t>Autonomy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286000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Qwen drives the full diagnose → decide → act loop via MCP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00200"/>
            <a:ext cx="2651760" cy="3474720"/>
          </a:xfrm>
          <a:prstGeom prst="rect">
            <a:avLst/>
          </a:prstGeom>
          <a:solidFill>
            <a:srgbClr val="161B22"/>
          </a:solidFill>
          <a:ln w="254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6916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3B341"/>
                </a:solidFill>
              </a:rPr>
              <a:t>Semantics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286000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text-embedding-v3 retrieval — finds similar faults by meaning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600200"/>
            <a:ext cx="2651760" cy="3474720"/>
          </a:xfrm>
          <a:prstGeom prst="rect">
            <a:avLst/>
          </a:prstGeom>
          <a:solidFill>
            <a:srgbClr val="161B22"/>
          </a:solidFill>
          <a:ln w="25400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6916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0883E"/>
                </a:solidFill>
              </a:rPr>
              <a:t>Resilience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286000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Three-layer fallback: semantic → text → rules. Agent never stops.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171" y="5577840"/>
            <a:ext cx="10360609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B949E"/>
                </a:solidFill>
              </a:rPr>
              <a:t>Built with Qwen Cloud APIs  ·  Deployed on Alibaba Cloud ECS  ·  Track 1: MemoryAgent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